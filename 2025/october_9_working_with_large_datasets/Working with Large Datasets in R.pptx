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Playfair Display"/>
      <p:regular r:id="rId21"/>
      <p:bold r:id="rId22"/>
      <p:italic r:id="rId23"/>
      <p:boldItalic r:id="rId24"/>
    </p:embeddedFont>
    <p:embeddedFont>
      <p:font typeface="Arimo"/>
      <p:regular r:id="rId25"/>
      <p:bold r:id="rId26"/>
      <p:italic r:id="rId27"/>
      <p:boldItalic r:id="rId28"/>
    </p:embeddedFont>
    <p:embeddedFont>
      <p:font typeface="Arimo SemiBold"/>
      <p:regular r:id="rId29"/>
      <p:bold r:id="rId30"/>
      <p:italic r:id="rId31"/>
      <p:boldItalic r:id="rId32"/>
    </p:embeddedFont>
    <p:embeddedFont>
      <p:font typeface="Montserrat"/>
      <p:regular r:id="rId33"/>
      <p:bold r:id="rId34"/>
      <p:italic r:id="rId35"/>
      <p:boldItalic r:id="rId36"/>
    </p:embeddedFont>
    <p:embeddedFont>
      <p:font typeface="Plus Jakarta Sans"/>
      <p:regular r:id="rId37"/>
      <p:bold r:id="rId38"/>
      <p:italic r:id="rId39"/>
      <p:boldItalic r:id="rId40"/>
    </p:embeddedFont>
    <p:embeddedFont>
      <p:font typeface="Inter"/>
      <p:regular r:id="rId41"/>
      <p:bold r:id="rId42"/>
      <p:italic r:id="rId43"/>
      <p:boldItalic r:id="rId44"/>
    </p:embeddedFont>
    <p:embeddedFont>
      <p:font typeface="Plus Jakarta Sans Medium"/>
      <p:regular r:id="rId45"/>
      <p:bold r:id="rId46"/>
      <p:italic r:id="rId47"/>
      <p:boldItalic r:id="rId48"/>
    </p:embeddedFont>
    <p:embeddedFont>
      <p:font typeface="Arimo Medium"/>
      <p:regular r:id="rId49"/>
      <p:bold r:id="rId50"/>
      <p:italic r:id="rId51"/>
      <p:boldItalic r:id="rId52"/>
    </p:embeddedFont>
    <p:embeddedFont>
      <p:font typeface="Oswald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16">
          <p15:clr>
            <a:srgbClr val="747775"/>
          </p15:clr>
        </p15:guide>
        <p15:guide id="2" orient="horz" pos="3053">
          <p15:clr>
            <a:srgbClr val="747775"/>
          </p15:clr>
        </p15:guide>
        <p15:guide id="3" pos="118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16" orient="horz"/>
        <p:guide pos="3053" orient="horz"/>
        <p:guide pos="11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-boldItalic.fntdata"/><Relationship Id="rId42" Type="http://schemas.openxmlformats.org/officeDocument/2006/relationships/font" Target="fonts/Inter-bold.fntdata"/><Relationship Id="rId41" Type="http://schemas.openxmlformats.org/officeDocument/2006/relationships/font" Target="fonts/Inter-regular.fntdata"/><Relationship Id="rId44" Type="http://schemas.openxmlformats.org/officeDocument/2006/relationships/font" Target="fonts/Inter-boldItalic.fntdata"/><Relationship Id="rId43" Type="http://schemas.openxmlformats.org/officeDocument/2006/relationships/font" Target="fonts/Inter-italic.fntdata"/><Relationship Id="rId46" Type="http://schemas.openxmlformats.org/officeDocument/2006/relationships/font" Target="fonts/PlusJakartaSansMedium-bold.fntdata"/><Relationship Id="rId45" Type="http://schemas.openxmlformats.org/officeDocument/2006/relationships/font" Target="fonts/PlusJakartaSans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lusJakartaSansMedium-boldItalic.fntdata"/><Relationship Id="rId47" Type="http://schemas.openxmlformats.org/officeDocument/2006/relationships/font" Target="fonts/PlusJakartaSansMedium-italic.fntdata"/><Relationship Id="rId49" Type="http://schemas.openxmlformats.org/officeDocument/2006/relationships/font" Target="fonts/Arimo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SemiBold-italic.fntdata"/><Relationship Id="rId30" Type="http://schemas.openxmlformats.org/officeDocument/2006/relationships/font" Target="fonts/ArimoSemiBold-bold.fntdata"/><Relationship Id="rId33" Type="http://schemas.openxmlformats.org/officeDocument/2006/relationships/font" Target="fonts/Montserrat-regular.fntdata"/><Relationship Id="rId32" Type="http://schemas.openxmlformats.org/officeDocument/2006/relationships/font" Target="fonts/ArimoSemiBold-boldItalic.fntdata"/><Relationship Id="rId35" Type="http://schemas.openxmlformats.org/officeDocument/2006/relationships/font" Target="fonts/Montserrat-italic.fntdata"/><Relationship Id="rId34" Type="http://schemas.openxmlformats.org/officeDocument/2006/relationships/font" Target="fonts/Montserrat-bold.fntdata"/><Relationship Id="rId37" Type="http://schemas.openxmlformats.org/officeDocument/2006/relationships/font" Target="fonts/PlusJakartaSans-regular.fntdata"/><Relationship Id="rId36" Type="http://schemas.openxmlformats.org/officeDocument/2006/relationships/font" Target="fonts/Montserrat-boldItalic.fntdata"/><Relationship Id="rId39" Type="http://schemas.openxmlformats.org/officeDocument/2006/relationships/font" Target="fonts/PlusJakartaSans-italic.fntdata"/><Relationship Id="rId38" Type="http://schemas.openxmlformats.org/officeDocument/2006/relationships/font" Target="fonts/PlusJakartaSans-bold.fntdata"/><Relationship Id="rId20" Type="http://schemas.openxmlformats.org/officeDocument/2006/relationships/font" Target="fonts/Roboto-boldItalic.fntdata"/><Relationship Id="rId22" Type="http://schemas.openxmlformats.org/officeDocument/2006/relationships/font" Target="fonts/PlayfairDisplay-bold.fntdata"/><Relationship Id="rId21" Type="http://schemas.openxmlformats.org/officeDocument/2006/relationships/font" Target="fonts/PlayfairDisplay-regular.fntdata"/><Relationship Id="rId24" Type="http://schemas.openxmlformats.org/officeDocument/2006/relationships/font" Target="fonts/PlayfairDisplay-boldItalic.fntdata"/><Relationship Id="rId23" Type="http://schemas.openxmlformats.org/officeDocument/2006/relationships/font" Target="fonts/PlayfairDisplay-italic.fntdata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29" Type="http://schemas.openxmlformats.org/officeDocument/2006/relationships/font" Target="fonts/ArimoSemiBold-regular.fntdata"/><Relationship Id="rId51" Type="http://schemas.openxmlformats.org/officeDocument/2006/relationships/font" Target="fonts/ArimoMedium-italic.fntdata"/><Relationship Id="rId50" Type="http://schemas.openxmlformats.org/officeDocument/2006/relationships/font" Target="fonts/ArimoMedium-bold.fntdata"/><Relationship Id="rId53" Type="http://schemas.openxmlformats.org/officeDocument/2006/relationships/font" Target="fonts/Oswald-regular.fntdata"/><Relationship Id="rId52" Type="http://schemas.openxmlformats.org/officeDocument/2006/relationships/font" Target="fonts/Arimo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schemas.openxmlformats.org/officeDocument/2006/relationships/font" Target="fonts/Oswa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777057c4b6_0_1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777057c4b6_0_1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777057c4b6_0_2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777057c4b6_0_2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777057c4b6_0_2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777057c4b6_0_2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777057c4b6_0_2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777057c4b6_0_2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777057c4b6_0_2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777057c4b6_0_2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777057c4b6_0_2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777057c4b6_0_2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777057c4b6_0_2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777057c4b6_0_2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77057c4b6_0_2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777057c4b6_0_2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777057c4b6_0_2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777057c4b6_0_2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777057c4b6_0_2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777057c4b6_0_2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accent5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9" name="Google Shape;59;p13"/>
          <p:cNvGrpSpPr/>
          <p:nvPr/>
        </p:nvGrpSpPr>
        <p:grpSpPr>
          <a:xfrm>
            <a:off x="4524845" y="724771"/>
            <a:ext cx="2377504" cy="1078596"/>
            <a:chOff x="4571989" y="769200"/>
            <a:chExt cx="2320422" cy="1052700"/>
          </a:xfrm>
        </p:grpSpPr>
        <p:sp>
          <p:nvSpPr>
            <p:cNvPr id="60" name="Google Shape;60;p13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62" name="Google Shape;62;p13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63" name="Google Shape;63;p13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73" name="Google Shape;73;p15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5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5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6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81" name="Google Shape;81;p16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16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83" name="Google Shape;83;p16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86" name="Google Shape;86;p16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91" name="Google Shape;91;p17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92" name="Google Shape;92;p17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93" name="Google Shape;93;p17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94" name="Google Shape;94;p17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95" name="Google Shape;95;p17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99" name="Google Shape;99;p17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100" name="Google Shape;100;p17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101" name="Google Shape;101;p17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102" name="Google Shape;102;p17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103" name="Google Shape;103;p17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104" name="Google Shape;104;p17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19" name="Google Shape;119;p18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20" name="Google Shape;120;p18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21" name="Google Shape;121;p18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22" name="Google Shape;122;p18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23" name="Google Shape;123;p18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19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0" name="Google Shape;130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6" name="Google Shape;136;p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20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140" name="Google Shape;140;p20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41" name="Google Shape;141;p20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42" name="Google Shape;142;p20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44" name="Google Shape;144;p20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9" name="Google Shape;149;p20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0" name="Google Shape;150;p20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4" name="Google Shape;154;p2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5" name="Google Shape;155;p2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6" name="Google Shape;156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2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159" name="Google Shape;159;p22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5" name="Google Shape;165;p23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66" name="Google Shape;166;p23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7" name="Google Shape;167;p23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8" name="Google Shape;168;p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71" name="Google Shape;171;p24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72" name="Google Shape;172;p24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73" name="Google Shape;173;p24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4" name="Google Shape;174;p24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5" name="Google Shape;175;p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6" name="Google Shape;176;p24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80" name="Google Shape;180;p25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81" name="Google Shape;181;p2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3" name="Google Shape;183;p2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4" name="Google Shape;184;p25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9" name="Google Shape;189;p2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1" name="Google Shape;191;p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5" name="Google Shape;195;p2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7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8" name="Google Shape;198;p27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9" name="Google Shape;199;p27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0" name="Google Shape;200;p27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3" name="Google Shape;203;p28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4" name="Google Shape;204;p28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5" name="Google Shape;205;p2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28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10" name="Google Shape;210;p28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11" name="Google Shape;211;p28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12" name="Google Shape;212;p28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3" name="Google Shape;213;p28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4" name="Google Shape;214;p28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17" name="Google Shape;217;p29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18" name="Google Shape;218;p29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19" name="Google Shape;219;p29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20" name="Google Shape;220;p29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29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8" name="Google Shape;228;p29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9" name="Google Shape;229;p29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32" name="Google Shape;232;p3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0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6" name="Google Shape;236;p30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7" name="Google Shape;237;p30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30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9" name="Google Shape;239;p30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0" name="Google Shape;240;p30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2" name="Google Shape;242;p30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45" name="Google Shape;245;p31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46" name="Google Shape;246;p31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0" name="Google Shape;250;p32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51" name="Google Shape;251;p32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52" name="Google Shape;252;p32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53" name="Google Shape;253;p32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54" name="Google Shape;254;p32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5" name="Google Shape;255;p32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" name="Google Shape;256;p32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57" name="Google Shape;257;p32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" name="Google Shape;258;p32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59" name="Google Shape;259;p32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" name="Google Shape;260;p32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61" name="Google Shape;261;p3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2" name="Google Shape;262;p32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3" name="Google Shape;263;p32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4" name="Google Shape;264;p3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67" name="Google Shape;267;p33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3" name="Google Shape;273;p34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4" name="Google Shape;274;p34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5" name="Google Shape;275;p34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6" name="Google Shape;276;p34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7" name="Google Shape;277;p34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78" name="Google Shape;278;p34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79" name="Google Shape;279;p34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80" name="Google Shape;280;p34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81" name="Google Shape;281;p34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82" name="Google Shape;282;p34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83" name="Google Shape;283;p34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84" name="Google Shape;284;p34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85" name="Google Shape;285;p34"/>
          <p:cNvCxnSpPr>
            <a:stCxn id="283" idx="1"/>
            <a:endCxn id="283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6" name="Google Shape;286;p34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7" name="Google Shape;287;p34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8" name="Google Shape;288;p34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9" name="Google Shape;289;p34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2" name="Google Shape;292;p34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3" name="Google Shape;293;p34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4" name="Google Shape;294;p34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5" name="Google Shape;295;p34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6" name="Google Shape;296;p34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7" name="Google Shape;297;p3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34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301" name="Google Shape;301;p35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302" name="Google Shape;302;p35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03" name="Google Shape;303;p35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4" name="Google Shape;304;p35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05" name="Google Shape;305;p35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306" name="Google Shape;306;p3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307" name="Google Shape;307;p35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08" name="Google Shape;308;p35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309" name="Google Shape;309;p3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12" name="Google Shape;312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7" name="Google Shape;31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0" name="Google Shape;320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1" name="Google Shape;321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26" name="Google Shape;326;p4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31" name="Google Shape;331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2" name="Google Shape;332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37" name="Google Shape;337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2" name="Google Shape;342;p4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3" name="Google Shape;343;p4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4" name="Google Shape;344;p4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5" name="Google Shape;345;p4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9" name="Google Shape;349;p4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4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4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4" name="Google Shape;354;p4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5" name="Google Shape;355;p4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4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61" name="Google Shape;361;p5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5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5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7" name="Google Shape;367;p5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8" name="Google Shape;368;p5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9" name="Google Shape;369;p5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0" name="Google Shape;370;p5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71" name="Google Shape;371;p5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2" name="Google Shape;372;p5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5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4" name="Google Shape;374;p5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4" name="Google Shape;384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5" name="Google Shape;385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8" name="Google Shape;388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4" name="Google Shape;394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5" name="Google Shape;395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6" name="Google Shape;396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4.xml"/><Relationship Id="rId41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29" Type="http://schemas.openxmlformats.org/officeDocument/2006/relationships/slideLayout" Target="../slideLayouts/slideLayout41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27.xml"/><Relationship Id="rId37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wy2288@columbia.edu" TargetMode="External"/><Relationship Id="rId4" Type="http://schemas.openxmlformats.org/officeDocument/2006/relationships/hyperlink" Target="mailto:data@library.columnbia.edu" TargetMode="External"/><Relationship Id="rId5" Type="http://schemas.openxmlformats.org/officeDocument/2006/relationships/hyperlink" Target="https://tinyurl.com/dataclub1009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inyurl.com/dataclub1009" TargetMode="External"/><Relationship Id="rId4" Type="http://schemas.openxmlformats.org/officeDocument/2006/relationships/hyperlink" Target="https://www.fema.gov/about/openfema/data-sets/fema-usfa-nfirs-annual-data" TargetMode="External"/><Relationship Id="rId5" Type="http://schemas.openxmlformats.org/officeDocument/2006/relationships/hyperlink" Target="https://urldefense.com/v3/__https://columbia-data.club/lb8h6d__;!!BDUfV1Et5lrpZQ!U9jwB3FZIx2jOdy78NWlVyv2qvkjvnP8Vy-Kract3AMM4WLvkhynQjAACQfS1N2t0efRar3c0bNKfVEic32W6nqRwA$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hyperlink" Target="https://dazonnassist.com/data-mining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hyperlink" Target="https://easy-peasy.ai/ai-image-generator/images/contemporary-world-illustration-technology-renewable-energy-global-symbol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hyperlink" Target="https://aqua-cloud.io/katalon-studio-review-2025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data.seattle.gov/Community-and-Culture/Checkouts-by-Title/tmmm-ytt6/about_data" TargetMode="External"/><Relationship Id="rId5" Type="http://schemas.openxmlformats.org/officeDocument/2006/relationships/hyperlink" Target="https://data.seattle.gov/Community-and-Culture/Checkouts-by-Title/tmmm-ytt6/about_data" TargetMode="External"/><Relationship Id="rId6" Type="http://schemas.openxmlformats.org/officeDocument/2006/relationships/hyperlink" Target="https://www.fema.gov/about/openfema/working-with-large-data-set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hyperlink" Target="https://events.columbia.edu/go/data_club_data_enginee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s://rdatatable.gitlab.io/data.table/" TargetMode="External"/><Relationship Id="rId9" Type="http://schemas.openxmlformats.org/officeDocument/2006/relationships/hyperlink" Target="https://ddotta.github.io/cookbook-rpolars/" TargetMode="External"/><Relationship Id="rId5" Type="http://schemas.openxmlformats.org/officeDocument/2006/relationships/hyperlink" Target="https://arrow.apache.org/docs/r/" TargetMode="External"/><Relationship Id="rId6" Type="http://schemas.openxmlformats.org/officeDocument/2006/relationships/hyperlink" Target="https://dbplyr.tidyverse.org/articles/sql.html" TargetMode="External"/><Relationship Id="rId7" Type="http://schemas.openxmlformats.org/officeDocument/2006/relationships/hyperlink" Target="https://dtplyr.tidyverse.org/" TargetMode="External"/><Relationship Id="rId8" Type="http://schemas.openxmlformats.org/officeDocument/2006/relationships/hyperlink" Target="https://duckplyr.tidyverse.org/index.html" TargetMode="External"/><Relationship Id="rId10" Type="http://schemas.openxmlformats.org/officeDocument/2006/relationships/hyperlink" Target="https://vroom.r-lib.org/articles/benchmarks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fema.gov/about/openfema/data-sets/fema-usfa-nfirs-annual-data" TargetMode="External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blogs.library.columbia.edu/research-data-services/2025/09/02/data-club-fall-2025-schedule/" TargetMode="External"/><Relationship Id="rId4" Type="http://schemas.openxmlformats.org/officeDocument/2006/relationships/hyperlink" Target="mailto:wy2288@columbia.edu" TargetMode="External"/><Relationship Id="rId5" Type="http://schemas.openxmlformats.org/officeDocument/2006/relationships/hyperlink" Target="mailto:data@library.columbia.edu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7"/>
          <p:cNvSpPr txBox="1"/>
          <p:nvPr>
            <p:ph idx="1" type="subTitle"/>
          </p:nvPr>
        </p:nvSpPr>
        <p:spPr>
          <a:xfrm>
            <a:off x="1584050" y="3440775"/>
            <a:ext cx="5859300" cy="8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Wei Yin |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wy2288@columbia.edu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Research Support &amp; Data Services Librarian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Research Data Services |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data@library.columbia.edu</a:t>
            </a:r>
            <a:r>
              <a:rPr lang="en" sz="1200"/>
              <a:t>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/>
              <a:t>Columbia University Libraries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57"/>
          <p:cNvSpPr txBox="1"/>
          <p:nvPr>
            <p:ph idx="2" type="subTitle"/>
          </p:nvPr>
        </p:nvSpPr>
        <p:spPr>
          <a:xfrm>
            <a:off x="805650" y="454425"/>
            <a:ext cx="5141400" cy="28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Columbia University Libraries Data Club Fall 2025</a:t>
            </a:r>
            <a:endParaRPr sz="1200"/>
          </a:p>
        </p:txBody>
      </p:sp>
      <p:sp>
        <p:nvSpPr>
          <p:cNvPr id="416" name="Google Shape;416;p57"/>
          <p:cNvSpPr txBox="1"/>
          <p:nvPr>
            <p:ph idx="4" type="subTitle"/>
          </p:nvPr>
        </p:nvSpPr>
        <p:spPr>
          <a:xfrm flipH="1" rot="2415">
            <a:off x="7394425" y="455094"/>
            <a:ext cx="1708500" cy="28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2025/10/09</a:t>
            </a:r>
            <a:endParaRPr sz="1200"/>
          </a:p>
        </p:txBody>
      </p:sp>
      <p:sp>
        <p:nvSpPr>
          <p:cNvPr id="417" name="Google Shape;417;p57"/>
          <p:cNvSpPr txBox="1"/>
          <p:nvPr>
            <p:ph type="title"/>
          </p:nvPr>
        </p:nvSpPr>
        <p:spPr>
          <a:xfrm>
            <a:off x="821000" y="1186950"/>
            <a:ext cx="7710900" cy="1430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Working with Large Datasets in R</a:t>
            </a:r>
            <a:endParaRPr sz="4700"/>
          </a:p>
        </p:txBody>
      </p:sp>
      <p:sp>
        <p:nvSpPr>
          <p:cNvPr id="418" name="Google Shape;418;p57"/>
          <p:cNvSpPr txBox="1"/>
          <p:nvPr/>
        </p:nvSpPr>
        <p:spPr>
          <a:xfrm>
            <a:off x="1637775" y="2598050"/>
            <a:ext cx="59721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Please access google folder using this tinyurl:</a:t>
            </a:r>
            <a:endParaRPr sz="1900">
              <a:solidFill>
                <a:srgbClr val="0000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https://tinyurl.com/dataclub1009</a:t>
            </a:r>
            <a:endParaRPr sz="1900">
              <a:solidFill>
                <a:srgbClr val="0000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8"/>
          <p:cNvSpPr txBox="1"/>
          <p:nvPr>
            <p:ph idx="1" type="subTitle"/>
          </p:nvPr>
        </p:nvSpPr>
        <p:spPr>
          <a:xfrm>
            <a:off x="4539825" y="2443322"/>
            <a:ext cx="4325700" cy="1187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Large datasets in R setting</a:t>
            </a:r>
            <a:endParaRPr/>
          </a:p>
        </p:txBody>
      </p:sp>
      <p:sp>
        <p:nvSpPr>
          <p:cNvPr id="424" name="Google Shape;424;p58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A few (possible) solutions</a:t>
            </a:r>
            <a:endParaRPr/>
          </a:p>
        </p:txBody>
      </p:sp>
      <p:sp>
        <p:nvSpPr>
          <p:cNvPr id="425" name="Google Shape;425;p58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A few R packages</a:t>
            </a:r>
            <a:endParaRPr/>
          </a:p>
        </p:txBody>
      </p:sp>
      <p:sp>
        <p:nvSpPr>
          <p:cNvPr id="426" name="Google Shape;426;p58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427" name="Google Shape;427;p5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8" name="Google Shape;428;p58"/>
          <p:cNvSpPr txBox="1"/>
          <p:nvPr/>
        </p:nvSpPr>
        <p:spPr>
          <a:xfrm>
            <a:off x="52625" y="401225"/>
            <a:ext cx="8517600" cy="27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highlight>
                  <a:schemeClr val="lt2"/>
                </a:highlight>
                <a:latin typeface="Arimo"/>
                <a:ea typeface="Arimo"/>
                <a:cs typeface="Arimo"/>
                <a:sym typeface="Arimo"/>
              </a:rPr>
              <a:t>Please access slides using this tinyurl:</a:t>
            </a:r>
            <a:endParaRPr b="1" sz="2400">
              <a:solidFill>
                <a:schemeClr val="dk1"/>
              </a:solidFill>
              <a:highlight>
                <a:schemeClr val="lt2"/>
              </a:highlight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ighlight>
                  <a:schemeClr val="lt2"/>
                </a:highlight>
                <a:latin typeface="Arimo"/>
                <a:ea typeface="Arimo"/>
                <a:cs typeface="Arimo"/>
                <a:sym typeface="Arimo"/>
                <a:hlinkClick r:id="rId3"/>
              </a:rPr>
              <a:t>https://tinyurl.com/dataclub1009</a:t>
            </a:r>
            <a:endParaRPr b="1" sz="2400">
              <a:solidFill>
                <a:schemeClr val="dk1"/>
              </a:solidFill>
              <a:highlight>
                <a:schemeClr val="lt2"/>
              </a:highlight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highlight>
                <a:schemeClr val="lt2"/>
              </a:highlight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highlight>
                  <a:schemeClr val="lt2"/>
                </a:highlight>
                <a:latin typeface="Arimo"/>
                <a:ea typeface="Arimo"/>
                <a:cs typeface="Arimo"/>
                <a:sym typeface="Arimo"/>
              </a:rPr>
              <a:t>Please download OpenFEMA </a:t>
            </a:r>
            <a:endParaRPr b="1" sz="2400">
              <a:solidFill>
                <a:schemeClr val="dk1"/>
              </a:solidFill>
              <a:highlight>
                <a:schemeClr val="lt2"/>
              </a:highlight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highlight>
                  <a:schemeClr val="lt2"/>
                </a:highlight>
                <a:latin typeface="Arimo"/>
                <a:ea typeface="Arimo"/>
                <a:cs typeface="Arimo"/>
                <a:sym typeface="Arimo"/>
                <a:hlinkClick r:id="rId4"/>
              </a:rPr>
              <a:t>NFIRS datasets 2024</a:t>
            </a:r>
            <a:endParaRPr sz="24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Moacir created a short download link for the NFIRS 2024, so you can use either the </a:t>
            </a: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original</a:t>
            </a:r>
            <a:r>
              <a:rPr lang="en" sz="11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link above or the link below for download</a:t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rgbClr val="1155CC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https://columbia-data.club/lb8h6d</a:t>
            </a:r>
            <a:endParaRPr sz="24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highlight>
                <a:schemeClr val="lt2"/>
              </a:highlight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4" name="Google Shape;434;p59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pic>
        <p:nvPicPr>
          <p:cNvPr id="435" name="Google Shape;43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063" y="390650"/>
            <a:ext cx="7811881" cy="239544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9"/>
          <p:cNvSpPr txBox="1"/>
          <p:nvPr/>
        </p:nvSpPr>
        <p:spPr>
          <a:xfrm>
            <a:off x="277500" y="4883325"/>
            <a:ext cx="1692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Image source: </a:t>
            </a:r>
            <a:r>
              <a:rPr lang="en" sz="8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4"/>
              </a:rPr>
              <a:t>dazonnassist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37" name="Google Shape;437;p59"/>
          <p:cNvSpPr txBox="1"/>
          <p:nvPr/>
        </p:nvSpPr>
        <p:spPr>
          <a:xfrm>
            <a:off x="2373175" y="2911425"/>
            <a:ext cx="6104700" cy="18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 R and RStudio, "large data" typically refers to datasets that exceed the available RAM (random access memory) of the computer running R.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Char char="●"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 general rule of thumb suggests needing 2-3 times the RAM of your data size for comfortable processing.</a:t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Char char="●"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Data exceeding 50% of available RAM are essentially unusable.</a:t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21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Char char="○"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We consider a data set large if it exceeds 20% of the RAM on a given machine and massive if it exceeds 50%</a:t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0"/>
          <p:cNvSpPr/>
          <p:nvPr/>
        </p:nvSpPr>
        <p:spPr>
          <a:xfrm>
            <a:off x="277500" y="277500"/>
            <a:ext cx="4536300" cy="4582500"/>
          </a:xfrm>
          <a:prstGeom prst="roundRect">
            <a:avLst>
              <a:gd fmla="val 1319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3" name="Google Shape;443;p60"/>
          <p:cNvSpPr txBox="1"/>
          <p:nvPr>
            <p:ph type="title"/>
          </p:nvPr>
        </p:nvSpPr>
        <p:spPr>
          <a:xfrm>
            <a:off x="5322000" y="2350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I mention large datasets in today’s session, that means</a:t>
            </a:r>
            <a:endParaRPr/>
          </a:p>
        </p:txBody>
      </p:sp>
      <p:sp>
        <p:nvSpPr>
          <p:cNvPr id="444" name="Google Shape;444;p60"/>
          <p:cNvSpPr/>
          <p:nvPr/>
        </p:nvSpPr>
        <p:spPr>
          <a:xfrm>
            <a:off x="5595650" y="980125"/>
            <a:ext cx="3096600" cy="78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5" name="Google Shape;445;p60"/>
          <p:cNvSpPr txBox="1"/>
          <p:nvPr/>
        </p:nvSpPr>
        <p:spPr>
          <a:xfrm>
            <a:off x="5595650" y="997925"/>
            <a:ext cx="30966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Char char="●"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Real world data - both in sciences and social sciences </a:t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Char char="●"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Not perfectly simulated scientific data or well-maintained industry datasets/databases</a:t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6" name="Google Shape;446;p60"/>
          <p:cNvSpPr/>
          <p:nvPr/>
        </p:nvSpPr>
        <p:spPr>
          <a:xfrm>
            <a:off x="6324400" y="2236047"/>
            <a:ext cx="2313900" cy="110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7" name="Google Shape;447;p60"/>
          <p:cNvSpPr txBox="1"/>
          <p:nvPr/>
        </p:nvSpPr>
        <p:spPr>
          <a:xfrm>
            <a:off x="6447276" y="2284350"/>
            <a:ext cx="21909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-1549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Char char="●"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Highly possible need data 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manipulation</a:t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Char char="○"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Multiple data sources</a:t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154940" lvl="0" marL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Char char="●"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Might use for customized research explorations</a:t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8" name="Google Shape;448;p60"/>
          <p:cNvSpPr/>
          <p:nvPr/>
        </p:nvSpPr>
        <p:spPr>
          <a:xfrm>
            <a:off x="5595650" y="3644725"/>
            <a:ext cx="2702100" cy="121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mo"/>
              <a:buChar char="●"/>
            </a:pPr>
            <a:r>
              <a:rPr lang="en" sz="1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For stand alone individual machine users</a:t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mo"/>
              <a:buChar char="●"/>
            </a:pPr>
            <a:r>
              <a:rPr lang="en" sz="1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What to do before using High </a:t>
            </a:r>
            <a:r>
              <a:rPr lang="en" sz="1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Performance</a:t>
            </a:r>
            <a:r>
              <a:rPr lang="en" sz="1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 Computing (HPC) or cloud based research computing</a:t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mo"/>
              <a:buChar char="○"/>
            </a:pPr>
            <a:r>
              <a:rPr lang="en" sz="1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Automation and iteration can be a different data club session</a:t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449" name="Google Shape;449;p60"/>
          <p:cNvCxnSpPr/>
          <p:nvPr/>
        </p:nvCxnSpPr>
        <p:spPr>
          <a:xfrm>
            <a:off x="2338400" y="1370875"/>
            <a:ext cx="3145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50" name="Google Shape;450;p60"/>
          <p:cNvCxnSpPr/>
          <p:nvPr/>
        </p:nvCxnSpPr>
        <p:spPr>
          <a:xfrm>
            <a:off x="4024750" y="2626800"/>
            <a:ext cx="216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51" name="Google Shape;451;p60"/>
          <p:cNvCxnSpPr/>
          <p:nvPr/>
        </p:nvCxnSpPr>
        <p:spPr>
          <a:xfrm>
            <a:off x="3524900" y="3916375"/>
            <a:ext cx="1959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52" name="Google Shape;452;p6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3" name="Google Shape;45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00" y="254175"/>
            <a:ext cx="4629151" cy="4629151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60"/>
          <p:cNvSpPr txBox="1"/>
          <p:nvPr/>
        </p:nvSpPr>
        <p:spPr>
          <a:xfrm>
            <a:off x="277500" y="4883325"/>
            <a:ext cx="1692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Image source: </a:t>
            </a:r>
            <a:r>
              <a:rPr lang="en" sz="8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4"/>
              </a:rPr>
              <a:t>easy.peasy.ai</a:t>
            </a:r>
            <a:endParaRPr sz="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0" name="Google Shape;460;p61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61" name="Google Shape;461;p61"/>
          <p:cNvSpPr txBox="1"/>
          <p:nvPr>
            <p:ph type="title"/>
          </p:nvPr>
        </p:nvSpPr>
        <p:spPr>
          <a:xfrm>
            <a:off x="2598475" y="3189000"/>
            <a:ext cx="5985300" cy="1560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 few (possible) solutions on an individual’s laptop or desktop</a:t>
            </a:r>
            <a:endParaRPr sz="3200"/>
          </a:p>
        </p:txBody>
      </p:sp>
      <p:pic>
        <p:nvPicPr>
          <p:cNvPr id="462" name="Google Shape;46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325" y="466475"/>
            <a:ext cx="3951448" cy="262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61"/>
          <p:cNvSpPr txBox="1"/>
          <p:nvPr/>
        </p:nvSpPr>
        <p:spPr>
          <a:xfrm>
            <a:off x="382025" y="48503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Image source: </a:t>
            </a:r>
            <a:r>
              <a:rPr lang="en" sz="8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4"/>
              </a:rPr>
              <a:t>aqua cloud</a:t>
            </a:r>
            <a:endParaRPr/>
          </a:p>
        </p:txBody>
      </p:sp>
      <p:sp>
        <p:nvSpPr>
          <p:cNvPr id="464" name="Google Shape;464;p61"/>
          <p:cNvSpPr txBox="1"/>
          <p:nvPr/>
        </p:nvSpPr>
        <p:spPr>
          <a:xfrm>
            <a:off x="5255325" y="789275"/>
            <a:ext cx="2933400" cy="1507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There are no one-fits-for-all solutions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If you are reading my slides later, solutions can be totally different from today (Oct. 9, 2025), due to 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hardware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and software improvements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62"/>
          <p:cNvPicPr preferRelativeResize="0"/>
          <p:nvPr/>
        </p:nvPicPr>
        <p:blipFill rotWithShape="1">
          <a:blip r:embed="rId3">
            <a:alphaModFix amt="10000"/>
          </a:blip>
          <a:srcRect b="14552" l="1068" r="50141" t="20939"/>
          <a:stretch/>
        </p:blipFill>
        <p:spPr>
          <a:xfrm>
            <a:off x="274125" y="1863575"/>
            <a:ext cx="4236300" cy="2995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470" name="Google Shape;470;p62"/>
          <p:cNvPicPr preferRelativeResize="0"/>
          <p:nvPr/>
        </p:nvPicPr>
        <p:blipFill rotWithShape="1">
          <a:blip r:embed="rId3">
            <a:alphaModFix amt="10000"/>
          </a:blip>
          <a:srcRect b="14552" l="1068" r="50141" t="20939"/>
          <a:stretch/>
        </p:blipFill>
        <p:spPr>
          <a:xfrm>
            <a:off x="4631050" y="1863575"/>
            <a:ext cx="4236300" cy="2995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71" name="Google Shape;471;p62"/>
          <p:cNvSpPr/>
          <p:nvPr/>
        </p:nvSpPr>
        <p:spPr>
          <a:xfrm>
            <a:off x="447100" y="2024825"/>
            <a:ext cx="585300" cy="585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2" name="Google Shape;472;p62"/>
          <p:cNvSpPr/>
          <p:nvPr/>
        </p:nvSpPr>
        <p:spPr>
          <a:xfrm>
            <a:off x="4835675" y="2024825"/>
            <a:ext cx="585300" cy="585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3" name="Google Shape;473;p6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real world data examples</a:t>
            </a:r>
            <a:endParaRPr/>
          </a:p>
        </p:txBody>
      </p:sp>
      <p:sp>
        <p:nvSpPr>
          <p:cNvPr id="474" name="Google Shape;474;p6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75" name="Google Shape;475;p62"/>
          <p:cNvGrpSpPr/>
          <p:nvPr/>
        </p:nvGrpSpPr>
        <p:grpSpPr>
          <a:xfrm>
            <a:off x="4983738" y="2184175"/>
            <a:ext cx="289163" cy="266601"/>
            <a:chOff x="4983738" y="2184175"/>
            <a:chExt cx="289163" cy="266601"/>
          </a:xfrm>
        </p:grpSpPr>
        <p:sp>
          <p:nvSpPr>
            <p:cNvPr id="476" name="Google Shape;476;p62"/>
            <p:cNvSpPr/>
            <p:nvPr/>
          </p:nvSpPr>
          <p:spPr>
            <a:xfrm>
              <a:off x="4983738" y="2184175"/>
              <a:ext cx="289150" cy="171300"/>
            </a:xfrm>
            <a:custGeom>
              <a:rect b="b" l="l" r="r" t="t"/>
              <a:pathLst>
                <a:path extrusionOk="0" h="6852" w="11566">
                  <a:moveTo>
                    <a:pt x="0" y="3256"/>
                  </a:moveTo>
                  <a:lnTo>
                    <a:pt x="5540" y="0"/>
                  </a:lnTo>
                  <a:lnTo>
                    <a:pt x="11566" y="3402"/>
                  </a:lnTo>
                  <a:lnTo>
                    <a:pt x="5686" y="6852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477" name="Google Shape;477;p62"/>
            <p:cNvCxnSpPr/>
            <p:nvPr/>
          </p:nvCxnSpPr>
          <p:spPr>
            <a:xfrm>
              <a:off x="5272900" y="2269750"/>
              <a:ext cx="0" cy="114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descr="A graduation cap icon. " id="478" name="Google Shape;478;p62"/>
            <p:cNvSpPr/>
            <p:nvPr/>
          </p:nvSpPr>
          <p:spPr>
            <a:xfrm>
              <a:off x="5020950" y="2287650"/>
              <a:ext cx="207745" cy="163126"/>
            </a:xfrm>
            <a:custGeom>
              <a:rect b="b" l="l" r="r" t="t"/>
              <a:pathLst>
                <a:path extrusionOk="0" h="6172" w="8067">
                  <a:moveTo>
                    <a:pt x="0" y="0"/>
                  </a:moveTo>
                  <a:lnTo>
                    <a:pt x="0" y="4082"/>
                  </a:lnTo>
                  <a:lnTo>
                    <a:pt x="4179" y="6172"/>
                  </a:lnTo>
                  <a:lnTo>
                    <a:pt x="8067" y="3936"/>
                  </a:lnTo>
                  <a:lnTo>
                    <a:pt x="8067" y="243"/>
                  </a:lnTo>
                  <a:lnTo>
                    <a:pt x="4082" y="2478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479" name="Google Shape;479;p62"/>
          <p:cNvSpPr txBox="1"/>
          <p:nvPr>
            <p:ph idx="3" type="body"/>
          </p:nvPr>
        </p:nvSpPr>
        <p:spPr>
          <a:xfrm>
            <a:off x="4868275" y="3400650"/>
            <a:ext cx="3585000" cy="145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Download only what you need.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To refresh data, attempt to perform updates rather than a full re-download.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Pre-process (filter and aggregate) prior to analysis using more standard tools.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Use tools more appropriate for working with large amounts of data—including programming languages.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Seek additional resources from the web regarding data science, data wrangling, and data analysis tools used to work with large amounts of data.</a:t>
            </a:r>
            <a:endParaRPr sz="900"/>
          </a:p>
        </p:txBody>
      </p:sp>
      <p:sp>
        <p:nvSpPr>
          <p:cNvPr id="480" name="Google Shape;480;p62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Data subsetting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Data partitioning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Various data formats are provided  </a:t>
            </a:r>
            <a:endParaRPr sz="900"/>
          </a:p>
        </p:txBody>
      </p:sp>
      <p:sp>
        <p:nvSpPr>
          <p:cNvPr id="481" name="Google Shape;481;p62"/>
          <p:cNvSpPr txBox="1"/>
          <p:nvPr>
            <p:ph idx="5" type="subTitle"/>
          </p:nvPr>
        </p:nvSpPr>
        <p:spPr>
          <a:xfrm>
            <a:off x="479925" y="2730150"/>
            <a:ext cx="3220500" cy="7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Seattle</a:t>
            </a:r>
            <a:r>
              <a:rPr lang="en" u="sng">
                <a:solidFill>
                  <a:schemeClr val="hlink"/>
                </a:solidFill>
                <a:hlinkClick r:id="rId5"/>
              </a:rPr>
              <a:t> Public Library Checkouts Open Data</a:t>
            </a:r>
            <a:endParaRPr/>
          </a:p>
        </p:txBody>
      </p:sp>
      <p:sp>
        <p:nvSpPr>
          <p:cNvPr id="482" name="Google Shape;482;p62"/>
          <p:cNvSpPr txBox="1"/>
          <p:nvPr>
            <p:ph idx="6" type="subTitle"/>
          </p:nvPr>
        </p:nvSpPr>
        <p:spPr>
          <a:xfrm>
            <a:off x="4868275" y="2730150"/>
            <a:ext cx="3871200" cy="6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OpenFEMA guide to working with large datasets</a:t>
            </a:r>
            <a:endParaRPr/>
          </a:p>
        </p:txBody>
      </p:sp>
      <p:grpSp>
        <p:nvGrpSpPr>
          <p:cNvPr id="483" name="Google Shape;483;p62"/>
          <p:cNvGrpSpPr/>
          <p:nvPr/>
        </p:nvGrpSpPr>
        <p:grpSpPr>
          <a:xfrm>
            <a:off x="595163" y="2184175"/>
            <a:ext cx="289163" cy="266601"/>
            <a:chOff x="4983738" y="2184175"/>
            <a:chExt cx="289163" cy="266601"/>
          </a:xfrm>
        </p:grpSpPr>
        <p:sp>
          <p:nvSpPr>
            <p:cNvPr id="484" name="Google Shape;484;p62"/>
            <p:cNvSpPr/>
            <p:nvPr/>
          </p:nvSpPr>
          <p:spPr>
            <a:xfrm>
              <a:off x="4983738" y="2184175"/>
              <a:ext cx="289150" cy="171300"/>
            </a:xfrm>
            <a:custGeom>
              <a:rect b="b" l="l" r="r" t="t"/>
              <a:pathLst>
                <a:path extrusionOk="0" h="6852" w="11566">
                  <a:moveTo>
                    <a:pt x="0" y="3256"/>
                  </a:moveTo>
                  <a:lnTo>
                    <a:pt x="5540" y="0"/>
                  </a:lnTo>
                  <a:lnTo>
                    <a:pt x="11566" y="3402"/>
                  </a:lnTo>
                  <a:lnTo>
                    <a:pt x="5686" y="6852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485" name="Google Shape;485;p62"/>
            <p:cNvCxnSpPr/>
            <p:nvPr/>
          </p:nvCxnSpPr>
          <p:spPr>
            <a:xfrm>
              <a:off x="5272900" y="2269750"/>
              <a:ext cx="0" cy="114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descr="A graduation cap icon. " id="486" name="Google Shape;486;p62"/>
            <p:cNvSpPr/>
            <p:nvPr/>
          </p:nvSpPr>
          <p:spPr>
            <a:xfrm>
              <a:off x="5020950" y="2287650"/>
              <a:ext cx="207745" cy="163126"/>
            </a:xfrm>
            <a:custGeom>
              <a:rect b="b" l="l" r="r" t="t"/>
              <a:pathLst>
                <a:path extrusionOk="0" h="6172" w="8067">
                  <a:moveTo>
                    <a:pt x="0" y="0"/>
                  </a:moveTo>
                  <a:lnTo>
                    <a:pt x="0" y="4082"/>
                  </a:lnTo>
                  <a:lnTo>
                    <a:pt x="4179" y="6172"/>
                  </a:lnTo>
                  <a:lnTo>
                    <a:pt x="8067" y="3936"/>
                  </a:lnTo>
                  <a:lnTo>
                    <a:pt x="8067" y="243"/>
                  </a:lnTo>
                  <a:lnTo>
                    <a:pt x="4082" y="2478"/>
                  </a:ln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6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93" name="Google Shape;493;p63"/>
          <p:cNvSpPr txBox="1"/>
          <p:nvPr>
            <p:ph type="title"/>
          </p:nvPr>
        </p:nvSpPr>
        <p:spPr>
          <a:xfrm>
            <a:off x="2469600" y="3375775"/>
            <a:ext cx="6114300" cy="123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 will discuss</a:t>
            </a:r>
            <a:r>
              <a:rPr lang="en" sz="2200"/>
              <a:t> a few R packages</a:t>
            </a:r>
            <a:r>
              <a:rPr lang="en" sz="2300"/>
              <a:t> </a:t>
            </a:r>
            <a:r>
              <a:rPr lang="en" sz="1400"/>
              <a:t>(version number &gt; 1.0.0)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You might (or must) have other options</a:t>
            </a:r>
            <a:endParaRPr sz="2200"/>
          </a:p>
        </p:txBody>
      </p:sp>
      <p:pic>
        <p:nvPicPr>
          <p:cNvPr id="494" name="Google Shape;49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725" y="395788"/>
            <a:ext cx="1157288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000" y="402925"/>
            <a:ext cx="1150635" cy="1326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5394" y="406738"/>
            <a:ext cx="1143000" cy="1319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62400" y="406738"/>
            <a:ext cx="1143000" cy="1319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9500" y="402925"/>
            <a:ext cx="1928812" cy="1928814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3"/>
          <p:cNvSpPr txBox="1"/>
          <p:nvPr/>
        </p:nvSpPr>
        <p:spPr>
          <a:xfrm>
            <a:off x="4968000" y="2455200"/>
            <a:ext cx="3693600" cy="662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Moacir’s Python session on Oct. 23</a:t>
            </a:r>
            <a:r>
              <a:rPr lang="en" sz="1200">
                <a:solidFill>
                  <a:srgbClr val="0000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will cover more details about Polars, so I won’t spend too much time today to talk about it.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500" name="Google Shape;500;p6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1122" y="1470562"/>
            <a:ext cx="1069287" cy="1234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64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2808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506" name="Google Shape;506;p64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20186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507" name="Google Shape;507;p64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37564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508" name="Google Shape;508;p64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54942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509" name="Google Shape;509;p64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72320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sp>
        <p:nvSpPr>
          <p:cNvPr id="510" name="Google Shape;510;p64"/>
          <p:cNvSpPr/>
          <p:nvPr/>
        </p:nvSpPr>
        <p:spPr>
          <a:xfrm>
            <a:off x="455511" y="19193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11" name="Google Shape;511;p64"/>
          <p:cNvSpPr/>
          <p:nvPr/>
        </p:nvSpPr>
        <p:spPr>
          <a:xfrm>
            <a:off x="491620" y="1964234"/>
            <a:ext cx="424800" cy="42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12" name="Google Shape;512;p64"/>
          <p:cNvGrpSpPr/>
          <p:nvPr/>
        </p:nvGrpSpPr>
        <p:grpSpPr>
          <a:xfrm>
            <a:off x="2196150" y="1919375"/>
            <a:ext cx="514500" cy="514500"/>
            <a:chOff x="2196150" y="1919375"/>
            <a:chExt cx="514500" cy="514500"/>
          </a:xfrm>
        </p:grpSpPr>
        <p:sp>
          <p:nvSpPr>
            <p:cNvPr id="513" name="Google Shape;513;p64"/>
            <p:cNvSpPr/>
            <p:nvPr/>
          </p:nvSpPr>
          <p:spPr>
            <a:xfrm>
              <a:off x="21961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14" name="Google Shape;514;p64"/>
            <p:cNvSpPr/>
            <p:nvPr/>
          </p:nvSpPr>
          <p:spPr>
            <a:xfrm>
              <a:off x="22410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515" name="Google Shape;515;p64"/>
          <p:cNvGrpSpPr/>
          <p:nvPr/>
        </p:nvGrpSpPr>
        <p:grpSpPr>
          <a:xfrm>
            <a:off x="3936800" y="1919375"/>
            <a:ext cx="514500" cy="514500"/>
            <a:chOff x="3936800" y="1919375"/>
            <a:chExt cx="514500" cy="514500"/>
          </a:xfrm>
        </p:grpSpPr>
        <p:sp>
          <p:nvSpPr>
            <p:cNvPr id="516" name="Google Shape;516;p64"/>
            <p:cNvSpPr/>
            <p:nvPr/>
          </p:nvSpPr>
          <p:spPr>
            <a:xfrm>
              <a:off x="393680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17" name="Google Shape;517;p64"/>
            <p:cNvSpPr/>
            <p:nvPr/>
          </p:nvSpPr>
          <p:spPr>
            <a:xfrm>
              <a:off x="398165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518" name="Google Shape;518;p64"/>
          <p:cNvGrpSpPr/>
          <p:nvPr/>
        </p:nvGrpSpPr>
        <p:grpSpPr>
          <a:xfrm>
            <a:off x="5677450" y="1919375"/>
            <a:ext cx="514500" cy="514500"/>
            <a:chOff x="5677450" y="1919375"/>
            <a:chExt cx="514500" cy="514500"/>
          </a:xfrm>
        </p:grpSpPr>
        <p:sp>
          <p:nvSpPr>
            <p:cNvPr id="519" name="Google Shape;519;p64"/>
            <p:cNvSpPr/>
            <p:nvPr/>
          </p:nvSpPr>
          <p:spPr>
            <a:xfrm>
              <a:off x="56774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20" name="Google Shape;520;p64"/>
            <p:cNvSpPr/>
            <p:nvPr/>
          </p:nvSpPr>
          <p:spPr>
            <a:xfrm>
              <a:off x="57223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521" name="Google Shape;521;p64"/>
          <p:cNvGrpSpPr/>
          <p:nvPr/>
        </p:nvGrpSpPr>
        <p:grpSpPr>
          <a:xfrm>
            <a:off x="7418100" y="1919375"/>
            <a:ext cx="514500" cy="514500"/>
            <a:chOff x="7418100" y="1919375"/>
            <a:chExt cx="514500" cy="514500"/>
          </a:xfrm>
        </p:grpSpPr>
        <p:sp>
          <p:nvSpPr>
            <p:cNvPr id="522" name="Google Shape;522;p64"/>
            <p:cNvSpPr/>
            <p:nvPr/>
          </p:nvSpPr>
          <p:spPr>
            <a:xfrm>
              <a:off x="741810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523" name="Google Shape;523;p64"/>
            <p:cNvSpPr/>
            <p:nvPr/>
          </p:nvSpPr>
          <p:spPr>
            <a:xfrm>
              <a:off x="746295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  <a:endParaRPr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524" name="Google Shape;524;p6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Comparisons  </a:t>
            </a:r>
            <a:endParaRPr/>
          </a:p>
        </p:txBody>
      </p:sp>
      <p:sp>
        <p:nvSpPr>
          <p:cNvPr id="525" name="Google Shape;525;p64"/>
          <p:cNvSpPr txBox="1"/>
          <p:nvPr>
            <p:ph idx="1" type="subTitle"/>
          </p:nvPr>
        </p:nvSpPr>
        <p:spPr>
          <a:xfrm>
            <a:off x="970011" y="1919375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data.table</a:t>
            </a:r>
            <a:endParaRPr/>
          </a:p>
        </p:txBody>
      </p:sp>
      <p:sp>
        <p:nvSpPr>
          <p:cNvPr id="526" name="Google Shape;526;p64"/>
          <p:cNvSpPr txBox="1"/>
          <p:nvPr>
            <p:ph idx="2" type="subTitle"/>
          </p:nvPr>
        </p:nvSpPr>
        <p:spPr>
          <a:xfrm>
            <a:off x="2682838" y="1919375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arrow</a:t>
            </a:r>
            <a:endParaRPr/>
          </a:p>
        </p:txBody>
      </p:sp>
      <p:sp>
        <p:nvSpPr>
          <p:cNvPr id="527" name="Google Shape;527;p64"/>
          <p:cNvSpPr txBox="1"/>
          <p:nvPr>
            <p:ph idx="3" type="subTitle"/>
          </p:nvPr>
        </p:nvSpPr>
        <p:spPr>
          <a:xfrm>
            <a:off x="4360050" y="1809275"/>
            <a:ext cx="819300" cy="611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dbplyr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vs. 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dtplyr</a:t>
            </a:r>
            <a:endParaRPr/>
          </a:p>
        </p:txBody>
      </p:sp>
      <p:sp>
        <p:nvSpPr>
          <p:cNvPr id="528" name="Google Shape;528;p64"/>
          <p:cNvSpPr txBox="1"/>
          <p:nvPr>
            <p:ph idx="4" type="subTitle"/>
          </p:nvPr>
        </p:nvSpPr>
        <p:spPr>
          <a:xfrm>
            <a:off x="6249347" y="1919375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duckplyr</a:t>
            </a:r>
            <a:endParaRPr/>
          </a:p>
        </p:txBody>
      </p:sp>
      <p:sp>
        <p:nvSpPr>
          <p:cNvPr id="529" name="Google Shape;529;p64"/>
          <p:cNvSpPr txBox="1"/>
          <p:nvPr>
            <p:ph idx="5" type="subTitle"/>
          </p:nvPr>
        </p:nvSpPr>
        <p:spPr>
          <a:xfrm>
            <a:off x="7961230" y="1919375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polars</a:t>
            </a:r>
            <a:endParaRPr/>
          </a:p>
        </p:txBody>
      </p:sp>
      <p:sp>
        <p:nvSpPr>
          <p:cNvPr id="530" name="Google Shape;530;p64"/>
          <p:cNvSpPr txBox="1"/>
          <p:nvPr>
            <p:ph idx="6" type="body"/>
          </p:nvPr>
        </p:nvSpPr>
        <p:spPr>
          <a:xfrm>
            <a:off x="322550" y="2495525"/>
            <a:ext cx="1473900" cy="18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fread()</a:t>
            </a:r>
            <a:endParaRPr sz="1000"/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Ideal for medium size CSV files within memory</a:t>
            </a:r>
            <a:endParaRPr sz="1000"/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Not ideal for directly handling JSON and parquet files</a:t>
            </a:r>
            <a:r>
              <a:rPr lang="en" sz="1000"/>
              <a:t> </a:t>
            </a:r>
            <a:endParaRPr sz="1000"/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Can also </a:t>
            </a:r>
            <a:r>
              <a:rPr lang="en" sz="1000"/>
              <a:t>consider</a:t>
            </a:r>
            <a:r>
              <a:rPr lang="en" sz="1000"/>
              <a:t> use vroom package and compare </a:t>
            </a:r>
            <a:r>
              <a:rPr lang="en" sz="1000" u="sng">
                <a:solidFill>
                  <a:schemeClr val="hlink"/>
                </a:solidFill>
                <a:hlinkClick r:id="rId10"/>
              </a:rPr>
              <a:t>benchmarks</a:t>
            </a:r>
            <a:endParaRPr sz="1000"/>
          </a:p>
        </p:txBody>
      </p:sp>
      <p:sp>
        <p:nvSpPr>
          <p:cNvPr id="531" name="Google Shape;531;p64"/>
          <p:cNvSpPr txBox="1"/>
          <p:nvPr>
            <p:ph idx="7" type="body"/>
          </p:nvPr>
        </p:nvSpPr>
        <p:spPr>
          <a:xfrm>
            <a:off x="2058800" y="2495525"/>
            <a:ext cx="15396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read_delim_arrow()</a:t>
            </a:r>
            <a:endParaRPr sz="1000"/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write_parquet()</a:t>
            </a:r>
            <a:endParaRPr sz="1000"/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Ideal for most of txt files including CSVs</a:t>
            </a:r>
            <a:endParaRPr sz="1000"/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data size can be larger than memory</a:t>
            </a:r>
            <a:endParaRPr sz="1000"/>
          </a:p>
        </p:txBody>
      </p:sp>
      <p:sp>
        <p:nvSpPr>
          <p:cNvPr id="532" name="Google Shape;532;p64"/>
          <p:cNvSpPr txBox="1"/>
          <p:nvPr>
            <p:ph idx="8" type="body"/>
          </p:nvPr>
        </p:nvSpPr>
        <p:spPr>
          <a:xfrm>
            <a:off x="3790738" y="2510975"/>
            <a:ext cx="15111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dbplyr is </a:t>
            </a:r>
            <a:r>
              <a:rPr lang="en" sz="1000"/>
              <a:t>dplyr backend packages (syntax compatibility)</a:t>
            </a:r>
            <a:endParaRPr sz="1000"/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dbplyr is based on SQL, so if you don’t know SQL, there is a learning curve</a:t>
            </a:r>
            <a:endParaRPr sz="1000"/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dtplyr is data.table backend and slower than data.table</a:t>
            </a:r>
            <a:endParaRPr sz="1000"/>
          </a:p>
        </p:txBody>
      </p:sp>
      <p:sp>
        <p:nvSpPr>
          <p:cNvPr id="533" name="Google Shape;533;p64"/>
          <p:cNvSpPr txBox="1"/>
          <p:nvPr>
            <p:ph idx="9" type="body"/>
          </p:nvPr>
        </p:nvSpPr>
        <p:spPr>
          <a:xfrm>
            <a:off x="5500925" y="2510975"/>
            <a:ext cx="14739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Ideal for common data formats such as json, delimited files and parquet files</a:t>
            </a:r>
            <a:endParaRPr sz="1000"/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can handle large data sets that do not fit into RAM</a:t>
            </a:r>
            <a:endParaRPr sz="1000"/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full dplyr compatibility</a:t>
            </a:r>
            <a:endParaRPr sz="1000"/>
          </a:p>
        </p:txBody>
      </p:sp>
      <p:sp>
        <p:nvSpPr>
          <p:cNvPr id="534" name="Google Shape;534;p64"/>
          <p:cNvSpPr txBox="1"/>
          <p:nvPr>
            <p:ph idx="13" type="body"/>
          </p:nvPr>
        </p:nvSpPr>
        <p:spPr>
          <a:xfrm>
            <a:off x="7232001" y="2510975"/>
            <a:ext cx="1437900" cy="15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The R packages now are not matured enough in my opinion</a:t>
            </a:r>
            <a:endParaRPr sz="1000"/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If you prefer to use polars, use Python for now (Oct. 2025) rather than R</a:t>
            </a:r>
            <a:endParaRPr sz="1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5"/>
          <p:cNvSpPr/>
          <p:nvPr/>
        </p:nvSpPr>
        <p:spPr>
          <a:xfrm>
            <a:off x="277500" y="277500"/>
            <a:ext cx="5145000" cy="4582500"/>
          </a:xfrm>
          <a:prstGeom prst="roundRect">
            <a:avLst>
              <a:gd fmla="val 1309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41" name="Google Shape;541;p65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Hands-on demo in R/Rstudio</a:t>
            </a:r>
            <a:endParaRPr/>
          </a:p>
        </p:txBody>
      </p:sp>
      <p:sp>
        <p:nvSpPr>
          <p:cNvPr id="542" name="Google Shape;542;p65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Using </a:t>
            </a:r>
            <a:r>
              <a:rPr lang="en" u="sng">
                <a:solidFill>
                  <a:schemeClr val="hlink"/>
                </a:solidFill>
                <a:hlinkClick r:id="rId3"/>
              </a:rPr>
              <a:t>OpenFEMA NFIRS datasets 2024</a:t>
            </a:r>
            <a:endParaRPr/>
          </a:p>
        </p:txBody>
      </p:sp>
      <p:cxnSp>
        <p:nvCxnSpPr>
          <p:cNvPr id="543" name="Google Shape;543;p65"/>
          <p:cNvCxnSpPr/>
          <p:nvPr/>
        </p:nvCxnSpPr>
        <p:spPr>
          <a:xfrm>
            <a:off x="5422500" y="3216700"/>
            <a:ext cx="44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544" name="Google Shape;544;p6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5" name="Google Shape;545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25" y="1078033"/>
            <a:ext cx="4869576" cy="324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6"/>
          <p:cNvSpPr txBox="1"/>
          <p:nvPr>
            <p:ph type="title"/>
          </p:nvPr>
        </p:nvSpPr>
        <p:spPr>
          <a:xfrm>
            <a:off x="737175" y="1562400"/>
            <a:ext cx="4034400" cy="2438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Thank you! 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&amp;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Ask us anything!</a:t>
            </a:r>
            <a:endParaRPr sz="3600"/>
          </a:p>
        </p:txBody>
      </p:sp>
      <p:cxnSp>
        <p:nvCxnSpPr>
          <p:cNvPr id="551" name="Google Shape;551;p66"/>
          <p:cNvCxnSpPr/>
          <p:nvPr/>
        </p:nvCxnSpPr>
        <p:spPr>
          <a:xfrm>
            <a:off x="5260800" y="278400"/>
            <a:ext cx="0" cy="45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66"/>
          <p:cNvSpPr txBox="1"/>
          <p:nvPr/>
        </p:nvSpPr>
        <p:spPr>
          <a:xfrm>
            <a:off x="5522600" y="654637"/>
            <a:ext cx="2941500" cy="420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Please find other data club sessions’ info </a:t>
            </a:r>
            <a:r>
              <a:rPr lang="en" sz="18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here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Any questions related to today’s session please contact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Wei Yin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4"/>
              </a:rPr>
              <a:t>wy2288@columbia.edu</a:t>
            </a: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or </a:t>
            </a:r>
            <a:endParaRPr sz="15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Research Data Services </a:t>
            </a:r>
            <a:r>
              <a:rPr lang="en" sz="1600" u="sng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5"/>
              </a:rPr>
              <a:t>data@library.columbia.edu</a:t>
            </a:r>
            <a:r>
              <a:rPr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53" name="Google Shape;553;p6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4" name="Google Shape;55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225" y="492525"/>
            <a:ext cx="610500" cy="6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6"/>
          <p:cNvSpPr txBox="1"/>
          <p:nvPr>
            <p:ph idx="4294967295" type="subTitle"/>
          </p:nvPr>
        </p:nvSpPr>
        <p:spPr>
          <a:xfrm>
            <a:off x="667150" y="0"/>
            <a:ext cx="5141400" cy="283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Columbia University Libraries Data Club Fall 2025</a:t>
            </a:r>
            <a:endParaRPr sz="1200"/>
          </a:p>
        </p:txBody>
      </p:sp>
      <p:sp>
        <p:nvSpPr>
          <p:cNvPr id="556" name="Google Shape;556;p66"/>
          <p:cNvSpPr txBox="1"/>
          <p:nvPr>
            <p:ph idx="4294967295" type="subTitle"/>
          </p:nvPr>
        </p:nvSpPr>
        <p:spPr>
          <a:xfrm flipH="1" rot="2415">
            <a:off x="7158000" y="594"/>
            <a:ext cx="1708500" cy="28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2025/10/09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